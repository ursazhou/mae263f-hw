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2AAFA-537E-15CD-5650-D48284566F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0A16FD-85D7-1C2D-BD28-56D18ADEE6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2DF665-49BB-599C-4F09-12831D15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30184-55B1-4FC1-B3C4-8F8E51A83D82}" type="datetimeFigureOut">
              <a:rPr lang="zh-TW" altLang="en-US" smtClean="0"/>
              <a:t>2025/11/5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FE215-91EF-4BF0-171F-F0C81BE68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76E109-CEF9-73F1-7EF6-1B954CEEB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298D4-6DD4-4E76-9569-E24E3C9A49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126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A24A5-50F0-1B45-822B-0CFEFD28E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0A632-756D-752A-0AA7-23A6807162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EF2F8D-5AA4-547C-2F85-399F8EFEE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30184-55B1-4FC1-B3C4-8F8E51A83D82}" type="datetimeFigureOut">
              <a:rPr lang="zh-TW" altLang="en-US" smtClean="0"/>
              <a:t>2025/11/5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68ACC8-9436-D242-00A2-6C4303AC7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0AC928-DF6B-37DF-1738-EB7E73CC2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298D4-6DD4-4E76-9569-E24E3C9A49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6021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88958-31D0-DC46-137B-6A6DC914C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565FF5-F21A-9E3B-1967-BB4AC29E0C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5C7196-D47B-99DB-6DB6-245837F55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30184-55B1-4FC1-B3C4-8F8E51A83D82}" type="datetimeFigureOut">
              <a:rPr lang="zh-TW" altLang="en-US" smtClean="0"/>
              <a:t>2025/11/5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559F5-B641-584D-2A8C-FF1BA8B54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C48195-70F2-C1FF-19FB-D3B3D83CF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298D4-6DD4-4E76-9569-E24E3C9A49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2936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2D352-F145-A937-A34E-E7CBA738A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9F75E-278C-BF44-267A-731A34D0A1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957954-38A7-6A6F-321C-680CF67093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D673A1-5F74-5493-E551-17A406EE5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30184-55B1-4FC1-B3C4-8F8E51A83D82}" type="datetimeFigureOut">
              <a:rPr lang="zh-TW" altLang="en-US" smtClean="0"/>
              <a:t>2025/11/5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2EA54B-4D06-CFE7-055C-33B7789D7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C4DF29-AC20-D68F-7203-B1C4954A5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298D4-6DD4-4E76-9569-E24E3C9A49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6680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B79D7-F0B5-260F-8A1E-D6613C8E9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01BAC9-0F3E-1E90-A581-054112E3C0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66F498-8E83-0DB7-52D3-B099E4FECF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49C239-E0AD-B142-B604-A3A2FD532F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97BF7A-D7A0-EE78-7789-B663FE23D8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30B973-B7AE-81D8-3ACC-B057CB00B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30184-55B1-4FC1-B3C4-8F8E51A83D82}" type="datetimeFigureOut">
              <a:rPr lang="zh-TW" altLang="en-US" smtClean="0"/>
              <a:t>2025/11/5</a:t>
            </a:fld>
            <a:endParaRPr lang="zh-TW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DBECFB-1C26-5E21-44BB-33357B742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36C8FC-3499-96AF-77B8-C876C89BA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298D4-6DD4-4E76-9569-E24E3C9A49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7874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A5B2F-4C71-3319-1A66-281E3AB7C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499E8F-A5A0-42AA-A17A-859FEF616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30184-55B1-4FC1-B3C4-8F8E51A83D82}" type="datetimeFigureOut">
              <a:rPr lang="zh-TW" altLang="en-US" smtClean="0"/>
              <a:t>2025/11/5</a:t>
            </a:fld>
            <a:endParaRPr lang="zh-TW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CF55ED-FAEB-BA79-4DB2-1CC54F460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B43246-901E-152B-42CA-19D3C5B0A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298D4-6DD4-4E76-9569-E24E3C9A49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1856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E18060-14F3-22C6-753A-CF03BB47F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30184-55B1-4FC1-B3C4-8F8E51A83D82}" type="datetimeFigureOut">
              <a:rPr lang="zh-TW" altLang="en-US" smtClean="0"/>
              <a:t>2025/11/5</a:t>
            </a:fld>
            <a:endParaRPr lang="zh-TW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752C52-7BFA-5463-7C2D-E06101226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CCE2F-CCAD-5AD1-DD1C-EF61148A9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298D4-6DD4-4E76-9569-E24E3C9A49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6250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8B914-134C-D368-4EF1-F51FCEBC3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98EBF-3F7F-4C2E-ED5B-CA5BCECBE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9271D7-363A-3471-B411-C032AF71C5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1783DE-E3D5-79E9-0C33-89BD41969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30184-55B1-4FC1-B3C4-8F8E51A83D82}" type="datetimeFigureOut">
              <a:rPr lang="zh-TW" altLang="en-US" smtClean="0"/>
              <a:t>2025/11/5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EB9D2A-DDC6-97C8-B535-059CFD8BD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D558F7-223D-3196-F30F-FB1A540C1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298D4-6DD4-4E76-9569-E24E3C9A49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9713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B20F3-68B6-68BE-31DC-8182E0EEB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E3A5C6-0DAB-2A87-4CB8-391E13801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4FF0DC-2630-4254-711B-D2ACCC4DC2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C9B5A5-38D4-D877-1507-84DF59494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30184-55B1-4FC1-B3C4-8F8E51A83D82}" type="datetimeFigureOut">
              <a:rPr lang="zh-TW" altLang="en-US" smtClean="0"/>
              <a:t>2025/11/5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729864-3799-919B-CBFD-E9456825A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337B50-A65F-1DA8-C883-FD83C43E9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298D4-6DD4-4E76-9569-E24E3C9A49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3309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25EDC-21C2-2E8C-15F6-0A57366C0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9D5EFA-B9C2-E62C-9C0D-D7D4F62E4D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4B3763-4F8C-2E7F-AEED-D17E8DDA1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30184-55B1-4FC1-B3C4-8F8E51A83D82}" type="datetimeFigureOut">
              <a:rPr lang="zh-TW" altLang="en-US" smtClean="0"/>
              <a:t>2025/11/5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81A119-4849-53E3-B047-AE4F5FCF0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39451B-B1C3-9616-C939-13D4FDF6E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298D4-6DD4-4E76-9569-E24E3C9A49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8800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1DD0AF-1118-B7D2-3AE1-F591DA0A3C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7E4C55-1129-2D0A-EC66-30BB7192A9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DB612E-2A1A-F31C-17EA-23BB55280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30184-55B1-4FC1-B3C4-8F8E51A83D82}" type="datetimeFigureOut">
              <a:rPr lang="zh-TW" altLang="en-US" smtClean="0"/>
              <a:t>2025/11/5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C7CED4-4455-73A8-34B1-12CDBEC30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32B5D0-F2DA-6A0C-D5E1-1D0925F6E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298D4-6DD4-4E76-9569-E24E3C9A49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6027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8EFA23-B283-BB28-C326-4D8529E7F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0D4013-C3FB-BD8C-E078-6F32A001B6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6F3FAE-C3B2-6A82-35D4-6FF4A9BCF8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E30184-55B1-4FC1-B3C4-8F8E51A83D82}" type="datetimeFigureOut">
              <a:rPr lang="zh-TW" altLang="en-US" smtClean="0"/>
              <a:t>2025/11/5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4D46B-3232-5F35-4CAB-6D80FC5CEB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1A494-4019-DBE3-5144-C142DD344B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7298D4-6DD4-4E76-9569-E24E3C9A49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1399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2BE504A-F5B6-953C-23FE-4719C3828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66" y="2583873"/>
            <a:ext cx="5405846" cy="42741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39417E9-CBAF-D017-67B4-B4B276B03E6F}"/>
              </a:ext>
            </a:extLst>
          </p:cNvPr>
          <p:cNvSpPr txBox="1"/>
          <p:nvPr/>
        </p:nvSpPr>
        <p:spPr>
          <a:xfrm>
            <a:off x="110366" y="98092"/>
            <a:ext cx="111453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800" b="1" dirty="0"/>
              <a:t>DEM Co‑Design of a Jamming‑Augmented Soft Robotic Segment</a:t>
            </a:r>
            <a:endParaRPr lang="zh-TW" altLang="en-US" sz="2800" b="1" dirty="0"/>
          </a:p>
        </p:txBody>
      </p:sp>
      <p:sp>
        <p:nvSpPr>
          <p:cNvPr id="13" name="Rounded Rectangle 3">
            <a:extLst>
              <a:ext uri="{FF2B5EF4-FFF2-40B4-BE49-F238E27FC236}">
                <a16:creationId xmlns:a16="http://schemas.microsoft.com/office/drawing/2014/main" id="{3D02C6C0-AB24-C3DF-5D08-55AED751FCB1}"/>
              </a:ext>
            </a:extLst>
          </p:cNvPr>
          <p:cNvSpPr/>
          <p:nvPr/>
        </p:nvSpPr>
        <p:spPr>
          <a:xfrm>
            <a:off x="154988" y="953506"/>
            <a:ext cx="2377440" cy="1005840"/>
          </a:xfrm>
          <a:prstGeom prst="roundRect">
            <a:avLst/>
          </a:prstGeom>
          <a:solidFill>
            <a:srgbClr val="DEEBF7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Soft Core (BDEM)</a:t>
            </a:r>
          </a:p>
          <a:p>
            <a:r>
              <a:rPr dirty="0"/>
              <a:t>Kelvin‑Voigt bonds</a:t>
            </a:r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535D85CC-B940-5FDD-90D4-ABB2D6FD910F}"/>
              </a:ext>
            </a:extLst>
          </p:cNvPr>
          <p:cNvSpPr/>
          <p:nvPr/>
        </p:nvSpPr>
        <p:spPr>
          <a:xfrm>
            <a:off x="2806748" y="953506"/>
            <a:ext cx="2560320" cy="1005840"/>
          </a:xfrm>
          <a:prstGeom prst="roundRect">
            <a:avLst/>
          </a:prstGeom>
          <a:solidFill>
            <a:srgbClr val="EAF1DD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Jamming Sleeve</a:t>
            </a:r>
          </a:p>
          <a:p>
            <a:r>
              <a:rPr dirty="0"/>
              <a:t>(unbonded beads + membrane)</a:t>
            </a:r>
          </a:p>
        </p:txBody>
      </p:sp>
      <p:sp>
        <p:nvSpPr>
          <p:cNvPr id="15" name="Rounded Rectangle 5">
            <a:extLst>
              <a:ext uri="{FF2B5EF4-FFF2-40B4-BE49-F238E27FC236}">
                <a16:creationId xmlns:a16="http://schemas.microsoft.com/office/drawing/2014/main" id="{EC419EA3-7F6F-775A-A39F-80820714A4B8}"/>
              </a:ext>
            </a:extLst>
          </p:cNvPr>
          <p:cNvSpPr/>
          <p:nvPr/>
        </p:nvSpPr>
        <p:spPr>
          <a:xfrm>
            <a:off x="5549948" y="953506"/>
            <a:ext cx="1828800" cy="1005840"/>
          </a:xfrm>
          <a:prstGeom prst="roundRect">
            <a:avLst/>
          </a:prstGeom>
          <a:solidFill>
            <a:srgbClr val="F2DCDB"/>
          </a:solidFill>
          <a:ln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solidFill>
                  <a:schemeClr val="tx1"/>
                </a:solidFill>
              </a:rPr>
              <a:t>Actuation</a:t>
            </a:r>
          </a:p>
          <a:p>
            <a:r>
              <a:rPr>
                <a:solidFill>
                  <a:schemeClr val="tx1"/>
                </a:solidFill>
              </a:rPr>
              <a:t>(cables / pneumatics)</a:t>
            </a:r>
          </a:p>
        </p:txBody>
      </p:sp>
      <p:cxnSp>
        <p:nvCxnSpPr>
          <p:cNvPr id="16" name="Connector 6">
            <a:extLst>
              <a:ext uri="{FF2B5EF4-FFF2-40B4-BE49-F238E27FC236}">
                <a16:creationId xmlns:a16="http://schemas.microsoft.com/office/drawing/2014/main" id="{8086D5BF-767D-4350-C148-1D6354345EF2}"/>
              </a:ext>
            </a:extLst>
          </p:cNvPr>
          <p:cNvCxnSpPr/>
          <p:nvPr/>
        </p:nvCxnSpPr>
        <p:spPr>
          <a:xfrm>
            <a:off x="2532428" y="1456426"/>
            <a:ext cx="27432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7">
            <a:extLst>
              <a:ext uri="{FF2B5EF4-FFF2-40B4-BE49-F238E27FC236}">
                <a16:creationId xmlns:a16="http://schemas.microsoft.com/office/drawing/2014/main" id="{46BBEA1F-76E7-606E-6866-6AC5F8C5FC0D}"/>
              </a:ext>
            </a:extLst>
          </p:cNvPr>
          <p:cNvCxnSpPr/>
          <p:nvPr/>
        </p:nvCxnSpPr>
        <p:spPr>
          <a:xfrm>
            <a:off x="5367068" y="1456426"/>
            <a:ext cx="18288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3">
            <a:extLst>
              <a:ext uri="{FF2B5EF4-FFF2-40B4-BE49-F238E27FC236}">
                <a16:creationId xmlns:a16="http://schemas.microsoft.com/office/drawing/2014/main" id="{47E0CE4B-96D5-E5EF-8831-B73958475C3E}"/>
              </a:ext>
            </a:extLst>
          </p:cNvPr>
          <p:cNvSpPr/>
          <p:nvPr/>
        </p:nvSpPr>
        <p:spPr>
          <a:xfrm>
            <a:off x="154988" y="953506"/>
            <a:ext cx="2377440" cy="1005840"/>
          </a:xfrm>
          <a:prstGeom prst="roundRect">
            <a:avLst/>
          </a:prstGeom>
          <a:solidFill>
            <a:srgbClr val="DEEBF7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>
                <a:solidFill>
                  <a:schemeClr val="tx1"/>
                </a:solidFill>
              </a:rPr>
              <a:t>Soft Core (BDEM)</a:t>
            </a:r>
          </a:p>
          <a:p>
            <a:r>
              <a:rPr dirty="0">
                <a:solidFill>
                  <a:schemeClr val="tx1"/>
                </a:solidFill>
              </a:rPr>
              <a:t>Kelvin‑Voigt bonds</a:t>
            </a:r>
          </a:p>
        </p:txBody>
      </p:sp>
      <p:sp>
        <p:nvSpPr>
          <p:cNvPr id="19" name="Rounded Rectangle 4">
            <a:extLst>
              <a:ext uri="{FF2B5EF4-FFF2-40B4-BE49-F238E27FC236}">
                <a16:creationId xmlns:a16="http://schemas.microsoft.com/office/drawing/2014/main" id="{BF515427-0AFA-6F01-8D3F-57FD8F0A05C3}"/>
              </a:ext>
            </a:extLst>
          </p:cNvPr>
          <p:cNvSpPr/>
          <p:nvPr/>
        </p:nvSpPr>
        <p:spPr>
          <a:xfrm>
            <a:off x="2806748" y="953506"/>
            <a:ext cx="2560320" cy="1005840"/>
          </a:xfrm>
          <a:prstGeom prst="roundRect">
            <a:avLst/>
          </a:prstGeom>
          <a:solidFill>
            <a:srgbClr val="EAF1DD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>
                <a:solidFill>
                  <a:schemeClr val="tx1"/>
                </a:solidFill>
              </a:rPr>
              <a:t>Jamming Sleeve</a:t>
            </a:r>
          </a:p>
          <a:p>
            <a:r>
              <a:rPr dirty="0">
                <a:solidFill>
                  <a:schemeClr val="tx1"/>
                </a:solidFill>
              </a:rPr>
              <a:t>(unbonded beads + membrane)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C7F894C-AEEC-A2D4-005F-AE36756E1637}"/>
              </a:ext>
            </a:extLst>
          </p:cNvPr>
          <p:cNvSpPr txBox="1"/>
          <p:nvPr/>
        </p:nvSpPr>
        <p:spPr>
          <a:xfrm>
            <a:off x="6251562" y="2382591"/>
            <a:ext cx="5549373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/>
            </a:pPr>
            <a:r>
              <a:rPr lang="en-US" altLang="zh-TW" dirty="0"/>
              <a:t>We use the Discrete Element Method (DEM) to co‑design a soft robotic segment with a bonded‑particle core and a granular‑jamming sleeve. </a:t>
            </a:r>
          </a:p>
          <a:p>
            <a:pPr>
              <a:defRPr sz="1600" b="0"/>
            </a:pPr>
            <a:endParaRPr lang="en-US" altLang="zh-TW" dirty="0"/>
          </a:p>
          <a:p>
            <a:pPr>
              <a:defRPr sz="1600" b="0"/>
            </a:pPr>
            <a:endParaRPr lang="en-US" altLang="zh-TW" dirty="0"/>
          </a:p>
          <a:p>
            <a:pPr>
              <a:defRPr sz="1600" b="0"/>
            </a:pPr>
            <a:r>
              <a:rPr lang="en-US" altLang="zh-TW" dirty="0"/>
              <a:t>The unified particle model predicts stiffness‑on‑demand, contact, and manipulation performance and guides micro‑to‑macro design choices (bond stiffness, bead size, packing, vacuum level).</a:t>
            </a:r>
          </a:p>
          <a:p>
            <a:pPr>
              <a:defRPr sz="1600" b="0"/>
            </a:pPr>
            <a:endParaRPr lang="en-US" altLang="zh-TW" dirty="0"/>
          </a:p>
          <a:p>
            <a:pPr>
              <a:defRPr sz="1600" b="0"/>
            </a:pPr>
            <a:endParaRPr lang="en-US" altLang="zh-TW" dirty="0"/>
          </a:p>
          <a:p>
            <a:pPr>
              <a:defRPr sz="1600" b="0"/>
            </a:pPr>
            <a:r>
              <a:rPr lang="en-US" altLang="zh-TW" dirty="0"/>
              <a:t>Goals: lower tip error, higher grasp robustness, and energy‑efficient actuation.</a:t>
            </a:r>
          </a:p>
        </p:txBody>
      </p:sp>
    </p:spTree>
    <p:extLst>
      <p:ext uri="{BB962C8B-B14F-4D97-AF65-F5344CB8AC3E}">
        <p14:creationId xmlns:p14="http://schemas.microsoft.com/office/powerpoint/2010/main" val="8718538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135</Words>
  <Application>Microsoft Office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Ursa Zhou</dc:creator>
  <cp:lastModifiedBy>Ursa Zhou</cp:lastModifiedBy>
  <cp:revision>1</cp:revision>
  <dcterms:created xsi:type="dcterms:W3CDTF">2025-11-06T00:23:45Z</dcterms:created>
  <dcterms:modified xsi:type="dcterms:W3CDTF">2025-11-06T01:32:35Z</dcterms:modified>
</cp:coreProperties>
</file>