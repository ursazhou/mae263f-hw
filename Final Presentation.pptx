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7" r:id="rId4"/>
    <p:sldId id="268" r:id="rId5"/>
    <p:sldId id="266" r:id="rId6"/>
    <p:sldId id="270" r:id="rId7"/>
    <p:sldId id="271" r:id="rId8"/>
    <p:sldId id="258" r:id="rId9"/>
    <p:sldId id="264" r:id="rId10"/>
    <p:sldId id="259" r:id="rId11"/>
    <p:sldId id="262" r:id="rId12"/>
    <p:sldId id="265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77889" autoAdjust="0"/>
  </p:normalViewPr>
  <p:slideViewPr>
    <p:cSldViewPr snapToGrid="0">
      <p:cViewPr varScale="1">
        <p:scale>
          <a:sx n="69" d="100"/>
          <a:sy n="69" d="100"/>
        </p:scale>
        <p:origin x="930" y="3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2829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A6B8E-4CCE-41AD-BD17-CC082187E38A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9FCDD-99CE-4A23-8C7E-7FD5618A81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23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9071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397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429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038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4424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2248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0891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1419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393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5907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915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9FCDD-99CE-4A23-8C7E-7FD5618A81E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986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C1B1E-6EF8-F6F7-219D-0B9E5DA2A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F40A7-9412-E99A-E5EF-3A63535B5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5A624-C7FD-A8FD-E447-90DC77A7C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931773-A3CD-8959-E4AC-0EE1FEFB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A6B02-3A7E-3A31-51B8-A39052294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75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03C6A-C2B9-7EF2-B8C1-325C1A7B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37AE3-7ED7-BC86-0BC1-084D5928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AA8F-D0B1-41FF-265C-97876E7D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1C168-BF82-FC04-3D2C-02544ED3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AF827C-C276-DA93-8A78-4F8061CB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178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8496E-C0EE-4CAB-35E8-2406DEDB5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D92C0-7ECB-4883-6D16-DA613EF95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A9199-C5DF-926C-3BE6-60654FC45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234E3-333E-B064-0B14-C647495D6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85FEB-56C9-097D-D320-49CB9998A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55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878C1-72D4-D3B4-68DF-C51BA03D8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4B5FE-36B4-1605-54FA-D0A0858B2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E8D946-8F38-890A-1E87-5A41A91B4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E196C-E30D-A9E6-98A6-0782FF3C4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7F480D-3859-1D06-FE36-BF3C9320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DA7A9-B5FC-E4A3-6D1C-267A13C98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0344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89463-5448-A7E4-763F-ED741909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9CE93-26E0-449A-5CB6-BE99EBB93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29491-EAC0-E2AF-CF0B-D56824902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FA85E5-524B-7997-7440-E0F87DFF9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8686C2-E5A3-3FB1-3A8C-A6842F0D65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E18FE-B9B7-466B-D920-B339F077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1A83EE-804D-301F-178C-8DC1E1B7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DAC75C-B5CC-A609-F787-0177782D5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827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ECBC-0AD1-A3C2-9210-F9B7A5C4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10D12-4773-EA99-0517-8268D550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141108-1430-71D5-A718-1899A7AD1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2E280E-7E8B-B04D-60D8-F7A56111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4175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7DB05-D2CB-BF27-2138-7EBE44148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F6983D-959E-C1B1-FBE9-4804E5FE8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0A91E-9BD6-BA3B-39E4-AFC6FA8B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21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C0720-1466-D839-0D46-C6DECD68A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D896D-5F19-A863-9FB1-B6401115D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CB8D47-D813-A835-68B6-F252AE23E3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7E592-B1AC-E2C5-BB9B-8FF741F9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0C90FA-8E43-EE79-57A8-754BAC54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CFF02-A6B3-2C6D-E2FD-03122D2AA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7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3FA4-7A2A-57E4-EEE9-3832B2360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F34AD-A283-AEE7-35F4-B45FF3561B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35741-D61C-83B4-EA27-C678A4B1D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C5245-4615-798E-DC41-AA71C3782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9879C-2990-1CC6-D342-AE00D51F2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78569-2433-57EF-6478-BDF3CCC8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455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23617-7C68-7912-E51D-8DEB7D9A7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79223D-BAFC-103F-F07D-3159D38E5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EA62-672C-84D9-C631-3AD9C119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1F599-F476-5D5B-3B1E-D30A91A7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5547E-8127-C640-9784-242A27C5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960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3F84F-BD35-2B04-DE36-50FF7172D0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8EB63-D8DB-CE54-C122-FF8245C06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6F8B5-1052-E936-9190-1F7BD226C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A96EC-C185-3446-4F91-94BBB73C5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EEB65-5D14-8232-4C54-EF463C4E8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771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E4B500-D8D5-7810-8DB6-62AB468F8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37763-0531-FC8D-6352-4A67507B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F201-3D89-E20A-11D8-405C12988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C454F-6704-4813-987D-F29397B928C0}" type="datetimeFigureOut">
              <a:rPr lang="zh-TW" altLang="en-US" smtClean="0"/>
              <a:t>2025/12/2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0B2E3-F523-DC4C-DFE4-09C99D727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93E75-5E65-59EC-E73E-B0B8F17A3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977D3-189E-49BF-9C89-4D64426886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223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BB8C96-FBDB-46DB-C36D-DB1523218E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US" altLang="zh-TW" sz="5200" dirty="0">
                <a:solidFill>
                  <a:schemeClr val="tx2"/>
                </a:solidFill>
              </a:rPr>
              <a:t>DEM of a Granular-Jamming Soft Segment</a:t>
            </a:r>
            <a:endParaRPr lang="zh-TW" altLang="en-US" sz="5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A8E3D-8944-6E4F-8B50-C869AF0C6E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US" altLang="zh-TW">
                <a:solidFill>
                  <a:schemeClr val="tx2"/>
                </a:solidFill>
              </a:rPr>
              <a:t>Ursa</a:t>
            </a:r>
            <a:endParaRPr lang="zh-TW" altLang="en-US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5814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AE6CA01B-0DEB-4E9A-9768-B728DA42C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46" name="Group 1045">
            <a:extLst>
              <a:ext uri="{FF2B5EF4-FFF2-40B4-BE49-F238E27FC236}">
                <a16:creationId xmlns:a16="http://schemas.microsoft.com/office/drawing/2014/main" id="{A57D8C8E-634E-4E83-9657-225A4DFE4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4155"/>
            <a:ext cx="2514948" cy="2174333"/>
            <a:chOff x="-305" y="-4155"/>
            <a:chExt cx="2514948" cy="2174333"/>
          </a:xfrm>
        </p:grpSpPr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9D5D1578-BE90-4A7E-9856-BB4025E5AE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18ADDDE1-EC05-4BE5-9866-89714E0B73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0A118A52-E1FF-455C-B1A1-1CF50EE0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30E1677B-677B-48F1-971D-9E7F3CA51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60E8DE1-6E1D-9C37-7D44-9CD58CAE18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38" t="48646" r="-25738" b="-2229"/>
          <a:stretch>
            <a:fillRect/>
          </a:stretch>
        </p:blipFill>
        <p:spPr>
          <a:xfrm>
            <a:off x="7278654" y="718358"/>
            <a:ext cx="6389274" cy="1994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F525CF-5D03-43B8-632B-297F1E500F87}"/>
              </a:ext>
            </a:extLst>
          </p:cNvPr>
          <p:cNvSpPr txBox="1"/>
          <p:nvPr/>
        </p:nvSpPr>
        <p:spPr>
          <a:xfrm>
            <a:off x="53252" y="2486805"/>
            <a:ext cx="5750050" cy="43711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b="1" dirty="0">
                <a:solidFill>
                  <a:schemeClr val="tx2"/>
                </a:solidFill>
              </a:rPr>
              <a:t>Granular jamming</a:t>
            </a:r>
            <a:r>
              <a:rPr lang="en-US" altLang="zh-TW" sz="2400" dirty="0">
                <a:solidFill>
                  <a:schemeClr val="tx2"/>
                </a:solidFill>
              </a:rPr>
              <a:t>: if you pull a vacuum on a bag of grains, it suddenly becomes very stiff.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b="1" dirty="0">
                <a:solidFill>
                  <a:schemeClr val="tx2"/>
                </a:solidFill>
              </a:rPr>
              <a:t>Unjammed</a:t>
            </a:r>
            <a:r>
              <a:rPr lang="en-US" altLang="zh-TW" sz="2400" dirty="0">
                <a:solidFill>
                  <a:schemeClr val="tx2"/>
                </a:solidFill>
              </a:rPr>
              <a:t>: low stiffness for safe, dexterous motion and tip positioning.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b="1" dirty="0">
                <a:solidFill>
                  <a:schemeClr val="tx2"/>
                </a:solidFill>
              </a:rPr>
              <a:t>Jammed</a:t>
            </a:r>
            <a:r>
              <a:rPr lang="en-US" altLang="zh-TW" sz="2400" dirty="0">
                <a:solidFill>
                  <a:schemeClr val="tx2"/>
                </a:solidFill>
              </a:rPr>
              <a:t>: high stiffness for accurate shape holding and payload support.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26C32C-BF8E-2CC7-6AD4-6E74746E3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994" y="3229117"/>
            <a:ext cx="6616754" cy="3490338"/>
          </a:xfrm>
          <a:prstGeom prst="rect">
            <a:avLst/>
          </a:prstGeom>
        </p:spPr>
      </p:pic>
      <p:pic>
        <p:nvPicPr>
          <p:cNvPr id="1028" name="Picture 4" descr="All-terrain granular gripper ...">
            <a:extLst>
              <a:ext uri="{FF2B5EF4-FFF2-40B4-BE49-F238E27FC236}">
                <a16:creationId xmlns:a16="http://schemas.microsoft.com/office/drawing/2014/main" id="{DBC2CE89-7020-56B9-CAED-FDFB601AF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37913" y="670424"/>
            <a:ext cx="3774960" cy="170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269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2ED0DE-EC38-9E44-FF19-691AA8511F68}"/>
              </a:ext>
            </a:extLst>
          </p:cNvPr>
          <p:cNvSpPr txBox="1"/>
          <p:nvPr/>
        </p:nvSpPr>
        <p:spPr>
          <a:xfrm>
            <a:off x="191728" y="1210460"/>
            <a:ext cx="11808237" cy="48726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How does vacuum level (jamming) change the effective bending stiffness of the segment?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altLang="zh-TW" sz="24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How do microscopic parameters (bead radius, bead count / packing, jamming profile along the length) influence: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Tip deflection under load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Curvature distribution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Stored elastic energy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endParaRPr lang="en-US" altLang="zh-TW" sz="2400" dirty="0">
              <a:solidFill>
                <a:schemeClr val="tx2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Can a bonded-particle DEM model capture both: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The soft, floppy unjammed behavior</a:t>
            </a:r>
          </a:p>
          <a:p>
            <a:pPr marL="514350" lvl="1">
              <a:lnSpc>
                <a:spcPct val="90000"/>
              </a:lnSpc>
              <a:spcAft>
                <a:spcPts val="600"/>
              </a:spcAft>
            </a:pPr>
            <a:r>
              <a:rPr lang="en-US" altLang="zh-TW" sz="2400" dirty="0">
                <a:solidFill>
                  <a:schemeClr val="tx2"/>
                </a:solidFill>
              </a:rPr>
              <a:t>The stiff, shape-holding jammed behavior?</a:t>
            </a:r>
          </a:p>
        </p:txBody>
      </p:sp>
    </p:spTree>
    <p:extLst>
      <p:ext uri="{BB962C8B-B14F-4D97-AF65-F5344CB8AC3E}">
        <p14:creationId xmlns:p14="http://schemas.microsoft.com/office/powerpoint/2010/main" val="3885914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FFACF-BD03-62A5-6D59-919E6F25D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B7DBDA2-D10A-3E01-C6B9-6CAD65095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D55056-CE08-DEBF-1BF9-8248FB9DB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CA566F-256A-3474-67B6-D68E489CD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1772D5A-C12F-3F01-FA8B-60B68FB7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F640DB9-7B83-8D67-93BA-C5093C1A1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D2DCDDA-7AE9-9405-B762-93BC440D8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447194-AA8F-4BAD-000C-D30C05EF8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F31C26-CFD5-F24B-AC0F-515A37975E05}"/>
                  </a:ext>
                </a:extLst>
              </p:cNvPr>
              <p:cNvSpPr txBox="1"/>
              <p:nvPr/>
            </p:nvSpPr>
            <p:spPr>
              <a:xfrm>
                <a:off x="427303" y="720409"/>
                <a:ext cx="12688149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TW" b="1" dirty="0"/>
                  <a:t>Jamming and Vacuum Level</a:t>
                </a:r>
              </a:p>
              <a:p>
                <a14:m>
                  <m:oMath xmlns:m="http://schemas.openxmlformats.org/officeDocument/2006/math">
                    <m:r>
                      <a:rPr lang="zh-TW" altLang="ar-AE">
                        <a:solidFill>
                          <a:schemeClr val="tx2"/>
                        </a:solidFill>
                      </a:rPr>
                      <m:t>𝑣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=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0</m:t>
                    </m:r>
                  </m:oMath>
                </a14:m>
                <a:r>
                  <a:rPr lang="ar-AE" altLang="zh-TW" dirty="0">
                    <a:solidFill>
                      <a:schemeClr val="tx2"/>
                    </a:solidFill>
                  </a:rPr>
                  <a:t>: </a:t>
                </a:r>
                <a:r>
                  <a:rPr lang="en-US" altLang="zh-TW" dirty="0">
                    <a:solidFill>
                      <a:schemeClr val="tx2"/>
                    </a:solidFill>
                  </a:rPr>
                  <a:t>unjammed (soft, low contact stiffness).</a:t>
                </a:r>
              </a:p>
              <a:p>
                <a14:m>
                  <m:oMath xmlns:m="http://schemas.openxmlformats.org/officeDocument/2006/math">
                    <m:r>
                      <a:rPr lang="zh-TW" altLang="en-US">
                        <a:solidFill>
                          <a:schemeClr val="tx2"/>
                        </a:solidFill>
                      </a:rPr>
                      <m:t>𝑣</m:t>
                    </m:r>
                    <m:r>
                      <a:rPr lang="en-US" altLang="zh-TW">
                        <a:solidFill>
                          <a:schemeClr val="tx2"/>
                        </a:solidFill>
                      </a:rPr>
                      <m:t>=</m:t>
                    </m:r>
                    <m:r>
                      <a:rPr lang="en-US" altLang="zh-TW">
                        <a:solidFill>
                          <a:schemeClr val="tx2"/>
                        </a:solidFill>
                      </a:rPr>
                      <m:t>1</m:t>
                    </m:r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: fully jammed (high contact stiffness).</a:t>
                </a:r>
              </a:p>
              <a:p>
                <a:endParaRPr lang="en-US" altLang="zh-TW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F31C26-CFD5-F24B-AC0F-515A37975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03" y="720409"/>
                <a:ext cx="12688149" cy="1200329"/>
              </a:xfrm>
              <a:prstGeom prst="rect">
                <a:avLst/>
              </a:prstGeom>
              <a:blipFill>
                <a:blip r:embed="rId3"/>
                <a:stretch>
                  <a:fillRect l="-384" t="-2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2949D6-FA5D-CE30-12EB-8269F6081AFB}"/>
                  </a:ext>
                </a:extLst>
              </p:cNvPr>
              <p:cNvSpPr txBox="1"/>
              <p:nvPr/>
            </p:nvSpPr>
            <p:spPr>
              <a:xfrm>
                <a:off x="427303" y="2307462"/>
                <a:ext cx="12454196" cy="3743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TW" b="1" dirty="0"/>
                  <a:t>Geometry</a:t>
                </a:r>
              </a:p>
              <a:p>
                <a:pPr/>
                <a:r>
                  <a:rPr lang="en-US" altLang="zh-TW" dirty="0">
                    <a:solidFill>
                      <a:schemeClr val="tx2"/>
                    </a:solidFill>
                  </a:rPr>
                  <a:t>Length of core: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≈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0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.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15</m:t>
                    </m:r>
                    <m:r>
                      <m:rPr>
                        <m:nor/>
                      </m:rPr>
                      <a:rPr lang="ar-AE" altLang="zh-TW">
                        <a:solidFill>
                          <a:schemeClr val="tx2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chemeClr val="tx2"/>
                        </a:solidFill>
                      </a:rPr>
                      <m:t>m</m:t>
                    </m:r>
                  </m:oMath>
                </a14:m>
                <a:endParaRPr lang="en-US" altLang="zh-TW" dirty="0">
                  <a:solidFill>
                    <a:schemeClr val="tx2"/>
                  </a:solidFill>
                </a:endParaRPr>
              </a:p>
              <a:p>
                <a:pPr/>
                <a:r>
                  <a:rPr lang="en-US" altLang="zh-TW" dirty="0">
                    <a:solidFill>
                      <a:schemeClr val="tx2"/>
                    </a:solidFill>
                  </a:rPr>
                  <a:t>Core 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≈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5</m:t>
                    </m:r>
                    <m:r>
                      <m:rPr>
                        <m:nor/>
                      </m:rPr>
                      <a:rPr lang="ar-AE" altLang="zh-TW">
                        <a:solidFill>
                          <a:schemeClr val="tx2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chemeClr val="tx2"/>
                        </a:solidFill>
                      </a:rPr>
                      <m:t>mm</m:t>
                    </m:r>
                  </m:oMath>
                </a14:m>
                <a:endParaRPr lang="en-US" altLang="zh-TW" dirty="0">
                  <a:solidFill>
                    <a:schemeClr val="tx2"/>
                  </a:solidFill>
                </a:endParaRPr>
              </a:p>
              <a:p>
                <a:pPr/>
                <a:br>
                  <a:rPr lang="en-US" altLang="zh-TW" dirty="0">
                    <a:solidFill>
                      <a:schemeClr val="tx2"/>
                    </a:solidFill>
                  </a:rPr>
                </a:br>
                <a:endParaRPr lang="ar-AE" altLang="zh-TW" dirty="0">
                  <a:solidFill>
                    <a:schemeClr val="tx2"/>
                  </a:solidFill>
                </a:endParaRPr>
              </a:p>
              <a:p>
                <a:pPr>
                  <a:buNone/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Around the core is a granular sleeve:</a:t>
                </a:r>
              </a:p>
              <a:p>
                <a:r>
                  <a:rPr lang="en-US" altLang="zh-TW" dirty="0">
                    <a:solidFill>
                      <a:schemeClr val="tx2"/>
                    </a:solidFill>
                  </a:rPr>
                  <a:t>Beads of radius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bead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≈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4</m:t>
                    </m:r>
                    <m:r>
                      <m:rPr>
                        <m:nor/>
                      </m:rPr>
                      <a:rPr lang="ar-AE" altLang="zh-TW">
                        <a:solidFill>
                          <a:schemeClr val="tx2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chemeClr val="tx2"/>
                        </a:solidFill>
                      </a:rPr>
                      <m:t>mm</m:t>
                    </m:r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.</a:t>
                </a:r>
              </a:p>
              <a:p>
                <a:r>
                  <a:rPr lang="en-US" altLang="zh-TW" dirty="0">
                    <a:solidFill>
                      <a:schemeClr val="tx2"/>
                    </a:solidFill>
                  </a:rPr>
                  <a:t>Beads are distributed in a cylindrical shell:</a:t>
                </a:r>
              </a:p>
              <a:p>
                <a:pPr marL="0" lvl="1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Inner 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inner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=</m:t>
                    </m:r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US" altLang="zh-TW">
                        <a:solidFill>
                          <a:schemeClr val="tx2"/>
                        </a:solidFill>
                      </a:rPr>
                      <m:t>gap</m:t>
                    </m:r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,    gap = 1.5 * </a:t>
                </a:r>
                <a:r>
                  <a:rPr lang="en-US" altLang="zh-TW" dirty="0" err="1">
                    <a:solidFill>
                      <a:schemeClr val="tx2"/>
                    </a:solidFill>
                  </a:rPr>
                  <a:t>rbead</a:t>
                </a:r>
                <a:endParaRPr lang="en-US" altLang="zh-TW" dirty="0">
                  <a:solidFill>
                    <a:schemeClr val="tx2"/>
                  </a:solidFill>
                </a:endParaRPr>
              </a:p>
              <a:p>
                <a:pPr marL="0" lvl="1" indent="-285750">
                  <a:buFont typeface="Arial" panose="020B0604020202020204" pitchFamily="34" charset="0"/>
                  <a:buChar char="•"/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Outer radius: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outer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=</m:t>
                    </m:r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ar-AE" altLang="zh-TW">
                        <a:solidFill>
                          <a:schemeClr val="tx2"/>
                        </a:solidFill>
                      </a:rPr>
                      <m:t>+</m:t>
                    </m:r>
                    <m:r>
                      <a:rPr lang="ar-AE" altLang="zh-TW">
                        <a:solidFill>
                          <a:schemeClr val="tx2"/>
                        </a:solidFill>
                      </a:rPr>
                      <m:t>3</m:t>
                    </m:r>
                    <m:sSub>
                      <m:sSubPr>
                        <m:ctrlPr>
                          <a:rPr lang="ar-AE" altLang="zh-TW">
                            <a:solidFill>
                              <a:schemeClr val="tx2"/>
                            </a:solidFill>
                          </a:rPr>
                        </m:ctrlPr>
                      </m:sSubPr>
                      <m:e>
                        <m:r>
                          <a:rPr lang="zh-TW" altLang="ar-AE">
                            <a:solidFill>
                              <a:schemeClr val="tx2"/>
                            </a:solidFill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>
                            <a:solidFill>
                              <a:schemeClr val="tx2"/>
                            </a:solidFill>
                          </a:rPr>
                          <m:t>bead</m:t>
                        </m:r>
                      </m:sub>
                    </m:sSub>
                  </m:oMath>
                </a14:m>
                <a:endParaRPr lang="ar-AE" altLang="zh-TW" dirty="0">
                  <a:solidFill>
                    <a:schemeClr val="tx2"/>
                  </a:solidFill>
                </a:endParaRPr>
              </a:p>
              <a:p>
                <a:r>
                  <a:rPr lang="en-US" altLang="zh-TW" dirty="0">
                    <a:solidFill>
                      <a:schemeClr val="tx2"/>
                    </a:solidFill>
                  </a:rPr>
                  <a:t>The shell approximates a membrane full of grains around the soft rod.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TW" dirty="0">
                  <a:solidFill>
                    <a:schemeClr val="tx2"/>
                  </a:solidFill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TW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2949D6-FA5D-CE30-12EB-8269F6081A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303" y="2307462"/>
                <a:ext cx="12454196" cy="3743397"/>
              </a:xfrm>
              <a:prstGeom prst="rect">
                <a:avLst/>
              </a:prstGeom>
              <a:blipFill>
                <a:blip r:embed="rId4"/>
                <a:stretch>
                  <a:fillRect l="-392" t="-8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4645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4B9145-6017-C102-C843-60FBF7BB38A0}"/>
                  </a:ext>
                </a:extLst>
              </p:cNvPr>
              <p:cNvSpPr txBox="1"/>
              <p:nvPr/>
            </p:nvSpPr>
            <p:spPr>
              <a:xfrm>
                <a:off x="375530" y="513599"/>
                <a:ext cx="11126355" cy="6030973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b="1" dirty="0">
                    <a:solidFill>
                      <a:schemeClr val="tx2"/>
                    </a:solidFill>
                  </a:rPr>
                  <a:t>Material Properties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Core: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en-US" altLang="zh-TW" b="0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≈900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 </m:t>
                    </m:r>
                    <m:sSup>
                      <m:sSupPr>
                        <m:ctrlPr>
                          <a:rPr lang="en-US" altLang="zh-TW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kg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m</m:t>
                        </m:r>
                      </m:e>
                      <m:sup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(soft polymer).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Young’s modulus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core</m:t>
                        </m:r>
                      </m:sub>
                    </m:sSub>
                    <m:r>
                      <a:rPr lang="en-US" altLang="zh-TW" b="0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≈50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kPa</m:t>
                    </m:r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Behaves approximately like a linear elastic rod in small strain.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endParaRPr lang="en-US" altLang="zh-TW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endParaRPr lang="en-US" altLang="zh-TW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Sleeve (grains):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Density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bead</m:t>
                        </m:r>
                      </m:sub>
                    </m:sSub>
                    <m:r>
                      <a:rPr lang="en-US" altLang="zh-TW" b="0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≈1500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 </m:t>
                    </m:r>
                    <m:sSup>
                      <m:sSupPr>
                        <m:ctrlPr>
                          <a:rPr lang="en-US" altLang="zh-TW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kg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m</m:t>
                        </m:r>
                      </m:e>
                      <m:sup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Treated as rigid spheres with contact interactions.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endParaRPr lang="en-US" altLang="zh-TW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endParaRPr lang="en-US" altLang="zh-TW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Environment: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Gravity </a:t>
                </a:r>
                <a14:m>
                  <m:oMath xmlns:m="http://schemas.openxmlformats.org/officeDocument/2006/math">
                    <m:r>
                      <a:rPr lang="zh-TW" altLang="en-US" b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𝐠</m:t>
                    </m:r>
                    <m:r>
                      <a:rPr lang="en-US" altLang="zh-TW" b="0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en-US" altLang="zh-TW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9.810</m:t>
                        </m:r>
                      </m:e>
                    </m:d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 </m:t>
                    </m:r>
                    <m:sSup>
                      <m:sSupPr>
                        <m:ctrlPr>
                          <a:rPr lang="en-US" altLang="zh-TW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/</m:t>
                        </m:r>
                        <m:r>
                          <m:rPr>
                            <m:nor/>
                          </m:rPr>
                          <a:rPr lang="en-US" altLang="zh-TW" b="0" i="1">
                            <a:solidFill>
                              <a:schemeClr val="tx2"/>
                            </a:solidFill>
                          </a:rPr>
                          <m:t>s</m:t>
                        </m:r>
                      </m:e>
                      <m:sup>
                        <m:r>
                          <a:rPr lang="en-US" altLang="zh-TW" b="0" i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.</a:t>
                </a:r>
              </a:p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altLang="zh-TW" dirty="0">
                    <a:solidFill>
                      <a:schemeClr val="tx2"/>
                    </a:solidFill>
                  </a:rPr>
                  <a:t>Simple flat ground plane at </a:t>
                </a:r>
                <a14:m>
                  <m:oMath xmlns:m="http://schemas.openxmlformats.org/officeDocument/2006/math">
                    <m:r>
                      <a:rPr lang="zh-TW" alt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TW" i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=−0.03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 </m:t>
                    </m:r>
                    <m:r>
                      <m:rPr>
                        <m:nor/>
                      </m:rPr>
                      <a:rPr lang="en-US" altLang="zh-TW" b="0" i="1">
                        <a:solidFill>
                          <a:schemeClr val="tx2"/>
                        </a:solidFill>
                      </a:rPr>
                      <m:t>m</m:t>
                    </m:r>
                  </m:oMath>
                </a14:m>
                <a:r>
                  <a:rPr lang="en-US" altLang="zh-TW" dirty="0">
                    <a:solidFill>
                      <a:schemeClr val="tx2"/>
                    </a:solidFill>
                  </a:rPr>
                  <a:t>, modeled with a penalty contact.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A4B9145-6017-C102-C843-60FBF7BB3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30" y="513599"/>
                <a:ext cx="11126355" cy="6030973"/>
              </a:xfrm>
              <a:prstGeom prst="rect">
                <a:avLst/>
              </a:prstGeom>
              <a:blipFill>
                <a:blip r:embed="rId3"/>
                <a:stretch>
                  <a:fillRect l="-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425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FBB335-993B-7312-A306-4C02BCD67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5763B33-AD2D-A54E-1B68-4B1C2EDFD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EC436ED-AC33-8343-2B49-BAAF7073E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CEBE85-A45A-ABEF-C83E-350B3BAB1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93DE8DD-DD34-840A-375C-BC96B3377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8180776-57B1-BC68-4E0D-FF4953C44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E407115-128A-23D4-B3CB-106D15468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9DB7F0-BD28-20D6-F3D2-19E45C1C5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FB02C5-CF1A-1CD0-C883-59FD2AAAEB99}"/>
                  </a:ext>
                </a:extLst>
              </p:cNvPr>
              <p:cNvSpPr txBox="1"/>
              <p:nvPr/>
            </p:nvSpPr>
            <p:spPr>
              <a:xfrm>
                <a:off x="488829" y="402246"/>
                <a:ext cx="11062107" cy="5932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Number of core particles: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core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Spacing:</a:t>
                </a:r>
                <a:br>
                  <a:rPr lang="en-US" altLang="zh-TW" dirty="0"/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>
                        <a:latin typeface="Cambria Math" panose="02040503050406030204" pitchFamily="18" charset="0"/>
                      </a:rPr>
                      <m:t>Δ</m:t>
                    </m:r>
                    <m:r>
                      <a:rPr lang="zh-TW" altLang="el-G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l-GR" altLang="zh-TW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core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/</m:t>
                    </m:r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b="0" i="1">
                                <a:latin typeface="Cambria Math" panose="02040503050406030204" pitchFamily="18" charset="0"/>
                              </a:rPr>
                              <m:t>core</m:t>
                            </m:r>
                          </m:sub>
                        </m:s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altLang="zh-TW" dirty="0"/>
                  <a:t>.</a:t>
                </a:r>
                <a:endParaRPr lang="en-US" altLang="zh-TW" dirty="0"/>
              </a:p>
              <a:p>
                <a:endParaRPr lang="en-US" altLang="zh-TW" dirty="0"/>
              </a:p>
              <a:p>
                <a:r>
                  <a:rPr lang="en-US" altLang="zh-TW" dirty="0"/>
                  <a:t>Neighboring nodes are connected by Linear springs: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Axial stiffness: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b="0" i="1">
                              <a:latin typeface="Cambria Math" panose="02040503050406030204" pitchFamily="18" charset="0"/>
                            </a:rPr>
                            <m:t>bond</m:t>
                          </m:r>
                        </m:sub>
                      </m:sSub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core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core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l-GR" altLang="zh-TW" b="0" i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l-GR" b="0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zh-TW" b="0" dirty="0"/>
              </a:p>
              <a:p>
                <a:endParaRPr lang="en-US" altLang="zh-TW" dirty="0"/>
              </a:p>
              <a:p>
                <a:r>
                  <a:rPr lang="en-US" altLang="zh-TW" dirty="0"/>
                  <a:t>Dashpot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bond</m:t>
                        </m:r>
                      </m:sub>
                    </m:sSub>
                  </m:oMath>
                </a14:m>
                <a:r>
                  <a:rPr lang="en-US" altLang="zh-TW" dirty="0"/>
                  <a:t> for viscoelastic damping.</a:t>
                </a:r>
              </a:p>
              <a:p>
                <a:r>
                  <a:rPr lang="en-US" altLang="zh-TW" dirty="0"/>
                  <a:t>For nodes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TW" dirty="0"/>
                  <a:t>:</a:t>
                </a:r>
              </a:p>
              <a:p>
                <a:r>
                  <a:rPr lang="en-US" altLang="zh-TW" dirty="0"/>
                  <a:t>Current separation: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US" altLang="zh-TW" i="0">
                          <a:latin typeface="Cambria Math" panose="02040503050406030204" pitchFamily="18" charset="0"/>
                        </a:rPr>
                        <m:t>=∥</m:t>
                      </m:r>
                      <m:sSub>
                        <m:sSubPr>
                          <m:ctrlPr>
                            <a:rPr lang="ar-AE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zh-TW" altLang="ar-AE" b="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altLang="zh-TW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b="1" i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zh-TW" altLang="ar-AE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∥, </m:t>
                      </m:r>
                      <m:r>
                        <a:rPr lang="zh-TW" altLang="ar-AE" b="1" i="0">
                          <a:latin typeface="Cambria Math" panose="02040503050406030204" pitchFamily="18" charset="0"/>
                        </a:rPr>
                        <m:t>𝐞</m:t>
                      </m:r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TW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ℓ</m:t>
                          </m:r>
                        </m:den>
                      </m:f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altLang="zh-TW" b="0" dirty="0"/>
              </a:p>
              <a:p>
                <a:r>
                  <a:rPr lang="en-US" altLang="zh-TW" dirty="0"/>
                  <a:t>Extension: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/>
                      <m:t> 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ℓ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altLang="zh-TW" b="0" i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TW" altLang="el-GR" b="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l-GR" altLang="zh-TW" dirty="0"/>
                  <a:t>.</a:t>
                </a:r>
              </a:p>
              <a:p>
                <a:r>
                  <a:rPr lang="en-US" altLang="zh-TW" dirty="0"/>
                  <a:t>Relative velocity along the bond: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/>
                      <m:t> </m:t>
                    </m:r>
                    <m:acc>
                      <m:accPr>
                        <m:chr m:val="̇"/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ar-AE" altLang="zh-TW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altLang="zh-TW" b="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zh-TW" altLang="ar-AE" b="1" i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endParaRPr lang="ar-AE" altLang="zh-TW" dirty="0"/>
              </a:p>
              <a:p>
                <a:r>
                  <a:rPr lang="en-US" altLang="zh-TW" dirty="0"/>
                  <a:t>Bond force: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b="1">
                              <a:latin typeface="Cambria Math" panose="020405030504060302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zh-TW" altLang="ar-AE" b="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altLang="zh-TW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bond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r>
                            <a:rPr lang="zh-TW" altLang="ar-AE" b="0" i="1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ar-AE" altLang="zh-TW" b="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altLang="zh-TW" b="0" i="1">
                                  <a:latin typeface="Cambria Math" panose="02040503050406030204" pitchFamily="18" charset="0"/>
                                </a:rPr>
                                <m:t>bond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altLang="zh-TW" b="0" i="1">
                              <a:latin typeface="Cambria Math" panose="02040503050406030204" pitchFamily="18" charset="0"/>
                            </a:rPr>
                            <m:t> </m:t>
                          </m:r>
                          <m:acc>
                            <m:accPr>
                              <m:chr m:val="̇"/>
                              <m:ctrlPr>
                                <a:rPr lang="ar-AE" altLang="zh-TW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TW" altLang="ar-AE" b="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</m:d>
                      <m:r>
                        <a:rPr lang="zh-TW" altLang="ar-AE" b="1" i="0">
                          <a:latin typeface="Cambria Math" panose="02040503050406030204" pitchFamily="18" charset="0"/>
                        </a:rPr>
                        <m:t>𝐞</m:t>
                      </m:r>
                      <m:r>
                        <a:rPr lang="ar-AE" altLang="zh-TW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altLang="zh-TW" b="0" dirty="0"/>
              </a:p>
              <a:p>
                <a:pPr/>
                <a:r>
                  <a:rPr lang="en-US" altLang="zh-TW" dirty="0"/>
                  <a:t>Assemble internal forces by adding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/>
                  <a:t>to node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en-US" altLang="zh-TW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altLang="zh-TW" dirty="0"/>
                  <a:t>to node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altLang="zh-TW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FB02C5-CF1A-1CD0-C883-59FD2AAAE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829" y="402246"/>
                <a:ext cx="11062107" cy="5932458"/>
              </a:xfrm>
              <a:prstGeom prst="rect">
                <a:avLst/>
              </a:prstGeom>
              <a:blipFill>
                <a:blip r:embed="rId3"/>
                <a:stretch>
                  <a:fillRect l="-441" t="-514" b="-51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396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FE80C-AE66-2F9E-AB26-3D5771414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B9C7208-F0AA-F4D6-65B9-9FA66EDC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1F68D5-3DB7-AD00-3E5A-D39062AF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F5CD03-EC71-9601-5D6E-B55CA4003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CB0014F-D4D4-F039-5CC3-545113928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C02B66-B503-CC67-4080-C5E922D5E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D2BE8DA-5E50-4A8F-E152-AD806F1DD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9B34C38-7C16-E8A0-723A-9EF9AA6D4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C513B-E59C-BB29-2D8E-90681F1733D0}"/>
                  </a:ext>
                </a:extLst>
              </p:cNvPr>
              <p:cNvSpPr txBox="1"/>
              <p:nvPr/>
            </p:nvSpPr>
            <p:spPr>
              <a:xfrm>
                <a:off x="109964" y="479969"/>
                <a:ext cx="11971766" cy="5562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dirty="0"/>
                  <a:t>For any pair of particles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and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dirty="0"/>
                  <a:t>: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Positions: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zh-TW" dirty="0"/>
                  <a:t>Radii: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zh-TW" dirty="0"/>
                  <a:t>Relative vector: </a:t>
                </a:r>
                <a14:m>
                  <m:oMath xmlns:m="http://schemas.openxmlformats.org/officeDocument/2006/math">
                    <m:r>
                      <a:rPr lang="zh-TW" altLang="en-US" b="1"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zh-TW" dirty="0"/>
                  <a:t>distance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i="0">
                        <a:latin typeface="Cambria Math" panose="02040503050406030204" pitchFamily="18" charset="0"/>
                      </a:rPr>
                      <m:t>=∥</m:t>
                    </m:r>
                    <m:r>
                      <a:rPr lang="zh-TW" altLang="en-US" b="1" i="0"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∥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; </m:t>
                    </m:r>
                  </m:oMath>
                </a14:m>
                <a:r>
                  <a:rPr lang="en-US" altLang="zh-TW" dirty="0"/>
                  <a:t>Normal unit vector: </a:t>
                </a:r>
                <a14:m>
                  <m:oMath xmlns:m="http://schemas.openxmlformats.org/officeDocument/2006/math">
                    <m:r>
                      <a:rPr lang="zh-TW" altLang="en-US" b="1">
                        <a:latin typeface="Cambria Math" panose="02040503050406030204" pitchFamily="18" charset="0"/>
                      </a:rPr>
                      <m:t>𝐧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TW" altLang="en-US" b="1" i="0"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/</m:t>
                    </m:r>
                    <m:r>
                      <a:rPr lang="zh-TW" altLang="en-US" b="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dirty="0"/>
                  <a:t>.</a:t>
                </a:r>
              </a:p>
              <a:p>
                <a:endParaRPr lang="en-US" altLang="zh-TW" dirty="0"/>
              </a:p>
              <a:p>
                <a:r>
                  <a:rPr lang="en-US" altLang="zh-TW" dirty="0"/>
                  <a:t>Contact occurs when: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b="0"/>
                      <m:t>overlap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TW" altLang="ar-AE" b="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ar-AE" altLang="zh-TW" b="0" i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altLang="zh-TW" b="0" i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TW" b="0" dirty="0"/>
              </a:p>
              <a:p>
                <a:endParaRPr lang="ar-AE" altLang="zh-TW" b="0" dirty="0"/>
              </a:p>
              <a:p>
                <a:r>
                  <a:rPr lang="en-US" altLang="zh-TW" b="1" dirty="0"/>
                  <a:t>Normal force</a:t>
                </a:r>
                <a:r>
                  <a:rPr lang="en-US" altLang="zh-TW" dirty="0"/>
                  <a:t> (spring–dashpot):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zh-TW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contact</m:t>
                        </m:r>
                      </m:sub>
                    </m:sSub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altLang="zh-TW" b="0" i="1">
                                <a:latin typeface="Cambria Math" panose="02040503050406030204" pitchFamily="18" charset="0"/>
                              </a:rPr>
                              <m:t>pair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ar-AE" altLang="zh-TW" b="0" i="1"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nor/>
                      </m:rPr>
                      <a:rPr lang="en-US" altLang="zh-TW" b="0" i="1">
                        <a:latin typeface="Cambria Math" panose="02040503050406030204" pitchFamily="18" charset="0"/>
                      </a:rPr>
                      <m:t>overlap</m:t>
                    </m:r>
                    <m:r>
                      <a:rPr lang="en-US" altLang="zh-TW" b="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contact</m:t>
                        </m:r>
                      </m:sub>
                    </m:sSub>
                    <m:r>
                      <m:rPr>
                        <m:nor/>
                      </m:rPr>
                      <a:rPr lang="ar-AE" altLang="zh-TW" b="0" i="1"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̇"/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</m:oMath>
                </a14:m>
                <a:endParaRPr lang="ar-AE" altLang="zh-TW" b="0" dirty="0"/>
              </a:p>
              <a:p>
                <a:endParaRPr lang="en-US" altLang="zh-TW" b="1" dirty="0"/>
              </a:p>
              <a:p>
                <a:r>
                  <a:rPr lang="en-US" altLang="zh-TW" b="1" dirty="0"/>
                  <a:t>Tangential friction</a:t>
                </a:r>
                <a:r>
                  <a:rPr lang="en-US" altLang="zh-TW" dirty="0"/>
                  <a:t>:</a:t>
                </a:r>
              </a:p>
              <a:p>
                <a:r>
                  <a:rPr lang="en-US" altLang="zh-TW" dirty="0"/>
                  <a:t>Tangential relative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 altLang="zh-TW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𝐯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ar-AE" altLang="zh-TW" b="0" i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̇"/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acc>
                    <m:r>
                      <a:rPr lang="zh-TW" altLang="ar-AE" b="1" i="0">
                        <a:latin typeface="Cambria Math" panose="02040503050406030204" pitchFamily="18" charset="0"/>
                      </a:rPr>
                      <m:t>𝐧</m:t>
                    </m:r>
                  </m:oMath>
                </a14:m>
                <a:endParaRPr lang="en-US" altLang="zh-TW" b="0" dirty="0"/>
              </a:p>
              <a:p>
                <a:endParaRPr lang="ar-AE" altLang="zh-TW" b="0" dirty="0"/>
              </a:p>
              <a:p>
                <a:r>
                  <a:rPr lang="en-US" altLang="zh-TW" dirty="0"/>
                  <a:t>Viscous friction force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ar-AE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visc</m:t>
                        </m:r>
                      </m:sup>
                    </m:sSubSup>
                    <m:r>
                      <a:rPr lang="ar-AE" altLang="zh-TW" b="0" i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tangent</m:t>
                        </m:r>
                      </m:sub>
                    </m:sSub>
                    <m:r>
                      <m:rPr>
                        <m:nor/>
                      </m:rPr>
                      <a:rPr lang="ar-AE" altLang="zh-TW" b="0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𝐯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TW" b="0" dirty="0"/>
              </a:p>
              <a:p>
                <a:endParaRPr lang="ar-AE" altLang="zh-TW" b="0" dirty="0"/>
              </a:p>
              <a:p>
                <a:r>
                  <a:rPr lang="en-US" altLang="zh-TW" dirty="0"/>
                  <a:t>Total contact force on particle </a:t>
                </a:r>
                <a14:m>
                  <m:oMath xmlns:m="http://schemas.openxmlformats.org/officeDocument/2006/math">
                    <m:r>
                      <a:rPr lang="zh-TW" alt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ar-AE" altLang="zh-TW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ar-AE" b="1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contact</m:t>
                        </m:r>
                      </m:sup>
                    </m:sSubSup>
                    <m:r>
                      <a:rPr lang="ar-AE" altLang="zh-TW" b="0" i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ar-AE" altLang="zh-TW" b="0" i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TW" altLang="ar-AE" b="1" i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b>
                        <m:r>
                          <a:rPr lang="zh-TW" altLang="ar-AE" b="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altLang="zh-TW" b="0" i="1">
                            <a:latin typeface="Cambria Math" panose="02040503050406030204" pitchFamily="18" charset="0"/>
                          </a:rPr>
                          <m:t>contact</m:t>
                        </m:r>
                      </m:sup>
                    </m:sSubSup>
                    <m:r>
                      <a:rPr lang="ar-AE" altLang="zh-TW" b="0" i="0">
                        <a:latin typeface="Cambria Math" panose="02040503050406030204" pitchFamily="18" charset="0"/>
                      </a:rPr>
                      <m:t>=+</m:t>
                    </m:r>
                    <m:d>
                      <m:dPr>
                        <m:ctrlPr>
                          <a:rPr lang="ar-AE" altLang="zh-TW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ar-AE" altLang="zh-TW" b="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ar-AE" altLang="zh-TW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ar-AE" b="1" i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b>
                            <m:r>
                              <a:rPr lang="zh-TW" altLang="ar-AE" b="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b="0" dirty="0"/>
              </a:p>
              <a:p>
                <a:endParaRPr lang="en-US" altLang="zh-TW" b="0" dirty="0"/>
              </a:p>
              <a:p>
                <a:r>
                  <a:rPr lang="en-US" altLang="zh-TW" b="1" dirty="0"/>
                  <a:t>Gravity and Ground Plane</a:t>
                </a:r>
              </a:p>
              <a:p>
                <a:r>
                  <a:rPr lang="en-US" altLang="zh-TW" dirty="0"/>
                  <a:t>Gravity: each particle gets a body 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TW" b="1"/>
                        </m:ctrlPr>
                      </m:sSubPr>
                      <m:e>
                        <m:r>
                          <a:rPr lang="zh-TW" altLang="ar-AE" b="1"/>
                          <m:t>𝐅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i="1"/>
                          <m:t>grav</m:t>
                        </m:r>
                      </m:sub>
                    </m:sSub>
                    <m:r>
                      <a:rPr lang="ar-AE" altLang="zh-TW"/>
                      <m:t>=</m:t>
                    </m:r>
                    <m:sSub>
                      <m:sSubPr>
                        <m:ctrlPr>
                          <a:rPr lang="ar-AE" altLang="zh-TW" i="1"/>
                        </m:ctrlPr>
                      </m:sSubPr>
                      <m:e>
                        <m:r>
                          <a:rPr lang="zh-TW" altLang="ar-AE" i="1"/>
                          <m:t>𝑚</m:t>
                        </m:r>
                      </m:e>
                      <m:sub>
                        <m:r>
                          <a:rPr lang="zh-TW" altLang="ar-AE" i="1"/>
                          <m:t>𝑖</m:t>
                        </m:r>
                      </m:sub>
                    </m:sSub>
                    <m:r>
                      <a:rPr lang="zh-TW" altLang="ar-AE" b="1"/>
                      <m:t>𝐠</m:t>
                    </m:r>
                  </m:oMath>
                </a14:m>
                <a:endParaRPr lang="ar-AE" altLang="zh-TW" dirty="0"/>
              </a:p>
              <a:p>
                <a:r>
                  <a:rPr lang="en-US" altLang="zh-TW" dirty="0"/>
                  <a:t>Ground plane at </a:t>
                </a:r>
                <a14:m>
                  <m:oMath xmlns:m="http://schemas.openxmlformats.org/officeDocument/2006/math">
                    <m:r>
                      <a:rPr lang="zh-TW" altLang="en-US" i="1"/>
                      <m:t>𝑦</m:t>
                    </m:r>
                    <m:r>
                      <a:rPr lang="en-US" altLang="zh-TW"/>
                      <m:t>=</m:t>
                    </m:r>
                    <m:sSub>
                      <m:sSubPr>
                        <m:ctrlPr>
                          <a:rPr lang="ar-AE" altLang="zh-TW" i="1"/>
                        </m:ctrlPr>
                      </m:sSubPr>
                      <m:e>
                        <m:r>
                          <a:rPr lang="zh-TW" altLang="ar-AE" i="1"/>
                          <m:t>𝑦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i="1"/>
                          <m:t>ground</m:t>
                        </m:r>
                      </m:sub>
                    </m:sSub>
                  </m:oMath>
                </a14:m>
                <a:endParaRPr lang="ar-AE" altLang="zh-TW" b="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C513B-E59C-BB29-2D8E-90681F1733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64" y="479969"/>
                <a:ext cx="11971766" cy="5562998"/>
              </a:xfrm>
              <a:prstGeom prst="rect">
                <a:avLst/>
              </a:prstGeom>
              <a:blipFill>
                <a:blip r:embed="rId3"/>
                <a:stretch>
                  <a:fillRect l="-407" t="-548" b="-1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542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B01A9F-595F-A4CA-8161-BF1B8AB1F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5" y="1370674"/>
            <a:ext cx="5129784" cy="41166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F93BED-0B07-EC49-564F-FBF8666B9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0" y="1441209"/>
            <a:ext cx="5129784" cy="39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97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47F6BD-604C-E255-449A-73E5A307E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1" r="7741"/>
          <a:stretch>
            <a:fillRect/>
          </a:stretch>
        </p:blipFill>
        <p:spPr>
          <a:xfrm>
            <a:off x="641180" y="1516379"/>
            <a:ext cx="5129784" cy="42796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B41E5E-7F88-A94D-9C10-49FC5C567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035" y="1454034"/>
            <a:ext cx="5129784" cy="394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30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514F9B-E71D-6834-DB31-3976D717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53" y="1903488"/>
            <a:ext cx="5129784" cy="31932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D65E9C1-FB6E-0755-0DEF-60AB299B54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72"/>
          <a:stretch>
            <a:fillRect/>
          </a:stretch>
        </p:blipFill>
        <p:spPr>
          <a:xfrm>
            <a:off x="6529363" y="1903488"/>
            <a:ext cx="5129784" cy="3335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883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E8DB3B-989F-2E13-9CE8-C0E790226650}"/>
              </a:ext>
            </a:extLst>
          </p:cNvPr>
          <p:cNvSpPr txBox="1"/>
          <p:nvPr/>
        </p:nvSpPr>
        <p:spPr>
          <a:xfrm>
            <a:off x="148798" y="2827990"/>
            <a:ext cx="43567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200" b="0" i="0" dirty="0">
                <a:effectLst/>
              </a:rPr>
              <a:t>Dynamic bond energy (unjammed):   2.715e-03 J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altLang="zh-TW" sz="2200" b="0" i="0" dirty="0">
              <a:effectLst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200" b="0" i="0" dirty="0">
                <a:effectLst/>
              </a:rPr>
              <a:t>Dynamic bond energy (jammed):     5.428e-01 J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sz="2200" b="0" i="0" dirty="0">
                <a:effectLst/>
              </a:rPr>
              <a:t>Dynamic bond energy (half-jam):   2.864e-01 J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9FC62F-BCA7-DED7-A512-3A6A29332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296" y="1435551"/>
            <a:ext cx="6903720" cy="398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6537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363301FC-A32B-2E0F-C8BE-82269F0F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5" y="1883653"/>
            <a:ext cx="5129784" cy="309069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133118AD-D4EC-1ECF-40F8-A1D6A9455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80" y="1890065"/>
            <a:ext cx="5129784" cy="307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26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575</Words>
  <Application>Microsoft Office PowerPoint</Application>
  <PresentationFormat>Widescreen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DEM of a Granular-Jamming Soft Segment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Ursa Zhou</dc:creator>
  <cp:lastModifiedBy>Ursa Zhou</cp:lastModifiedBy>
  <cp:revision>3</cp:revision>
  <dcterms:created xsi:type="dcterms:W3CDTF">2025-11-26T10:40:11Z</dcterms:created>
  <dcterms:modified xsi:type="dcterms:W3CDTF">2025-12-03T21:09:43Z</dcterms:modified>
</cp:coreProperties>
</file>